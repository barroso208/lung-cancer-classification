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C4F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0F2C4F"/>
                </a:solidFill>
                <a:latin typeface="Georgia"/>
              </a:rPr>
              <a:t>Validation F1 across epochs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v1 (ResNet-50)</c:v>
                </c:pt>
              </c:strCache>
            </c:strRef>
          </c:tx>
          <c:spPr>
            <a:solidFill>
              <a:srgbClr val="0F2C4F"/>
            </a:solidFill>
            <a:ln w="25400" cap="flat">
              <a:solidFill>
                <a:srgbClr val="0F2C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2C4F"/>
              </a:solidFill>
              <a:ln w="9525" cap="flat">
                <a:solidFill>
                  <a:srgbClr val="0F2C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0.6013793103448276</c:v>
                </c:pt>
                <c:pt idx="1">
                  <c:v>0.7776397515527951</c:v>
                </c:pt>
                <c:pt idx="2">
                  <c:v>0.8748510131108462</c:v>
                </c:pt>
                <c:pt idx="3">
                  <c:v>0.9253393665158371</c:v>
                </c:pt>
                <c:pt idx="4">
                  <c:v>0.91324200913242</c:v>
                </c:pt>
                <c:pt idx="5">
                  <c:v>0.922384701912261</c:v>
                </c:pt>
                <c:pt idx="6">
                  <c:v>0.8681983071342201</c:v>
                </c:pt>
                <c:pt idx="7">
                  <c:v>0.9402654867256637</c:v>
                </c:pt>
                <c:pt idx="8">
                  <c:v>0.9500554938956715</c:v>
                </c:pt>
                <c:pt idx="9">
                  <c:v>0.9452513966480447</c:v>
                </c:pt>
                <c:pt idx="10">
                  <c:v>0.9537444933920705</c:v>
                </c:pt>
                <c:pt idx="11">
                  <c:v>0.9558498896247241</c:v>
                </c:pt>
                <c:pt idx="12">
                  <c:v>0.9547960308710033</c:v>
                </c:pt>
                <c:pt idx="13">
                  <c:v>0.9592959295929593</c:v>
                </c:pt>
                <c:pt idx="14">
                  <c:v>0.9614112458654906</c:v>
                </c:pt>
                <c:pt idx="15">
                  <c:v>0.9674620390455532</c:v>
                </c:pt>
                <c:pt idx="16">
                  <c:v>0.9663409337676439</c:v>
                </c:pt>
                <c:pt idx="17">
                  <c:v>0.9684439608269858</c:v>
                </c:pt>
                <c:pt idx="18">
                  <c:v>0.9783549783549783</c:v>
                </c:pt>
                <c:pt idx="19">
                  <c:v>0.9772481040086674</c:v>
                </c:pt>
                <c:pt idx="20">
                  <c:v>0.9806034482758621</c:v>
                </c:pt>
                <c:pt idx="21">
                  <c:v>0.9828326180257511</c:v>
                </c:pt>
                <c:pt idx="22">
                  <c:v>0.9827586206896551</c:v>
                </c:pt>
                <c:pt idx="23">
                  <c:v>0.9849137931034483</c:v>
                </c:pt>
                <c:pt idx="24">
                  <c:v>0.9871244635193133</c:v>
                </c:pt>
                <c:pt idx="25">
                  <c:v>0.9860664523043944</c:v>
                </c:pt>
                <c:pt idx="26">
                  <c:v>0.987152034261242</c:v>
                </c:pt>
                <c:pt idx="27">
                  <c:v>0.9882352941176471</c:v>
                </c:pt>
                <c:pt idx="28">
                  <c:v>0.9882352941176471</c:v>
                </c:pt>
                <c:pt idx="29">
                  <c:v>0.9882352941176471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(ResNet-50+CBAM, Focal)</c:v>
                </c:pt>
              </c:strCache>
            </c:strRef>
          </c:tx>
          <c:spPr>
            <a:solidFill>
              <a:srgbClr val="B85042"/>
            </a:solidFill>
            <a:ln w="254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0.711217183770883</c:v>
                </c:pt>
                <c:pt idx="1">
                  <c:v>0.7346938775510204</c:v>
                </c:pt>
                <c:pt idx="2">
                  <c:v>0.8503937007874016</c:v>
                </c:pt>
                <c:pt idx="3">
                  <c:v>0.9514767932489452</c:v>
                </c:pt>
                <c:pt idx="4">
                  <c:v>0.9574468085106383</c:v>
                </c:pt>
                <c:pt idx="5">
                  <c:v>0.9295454545454546</c:v>
                </c:pt>
                <c:pt idx="6">
                  <c:v>0.9568034557235421</c:v>
                </c:pt>
                <c:pt idx="7">
                  <c:v>0.9461883408071748</c:v>
                </c:pt>
                <c:pt idx="8">
                  <c:v>0.9633620689655172</c:v>
                </c:pt>
                <c:pt idx="9">
                  <c:v>0.9607843137254902</c:v>
                </c:pt>
                <c:pt idx="10">
                  <c:v>0.9672489082969432</c:v>
                </c:pt>
                <c:pt idx="11">
                  <c:v>0.9776357827476039</c:v>
                </c:pt>
                <c:pt idx="12">
                  <c:v>0.9595628415300547</c:v>
                </c:pt>
                <c:pt idx="13">
                  <c:v>0.9732620320855615</c:v>
                </c:pt>
                <c:pt idx="14">
                  <c:v>0.9797225186766275</c:v>
                </c:pt>
                <c:pt idx="15">
                  <c:v>0.9721627408993576</c:v>
                </c:pt>
                <c:pt idx="16">
                  <c:v>0.9777306468716861</c:v>
                </c:pt>
                <c:pt idx="17">
                  <c:v>0.9776357827476039</c:v>
                </c:pt>
                <c:pt idx="18">
                  <c:v>0.978494623655914</c:v>
                </c:pt>
                <c:pt idx="19">
                  <c:v>0.9818569903948773</c:v>
                </c:pt>
                <c:pt idx="20">
                  <c:v>0.9795918367346939</c:v>
                </c:pt>
                <c:pt idx="21">
                  <c:v>0.9819341126461212</c:v>
                </c:pt>
                <c:pt idx="22">
                  <c:v>0.9828693790149893</c:v>
                </c:pt>
                <c:pt idx="23">
                  <c:v>0.9818181818181818</c:v>
                </c:pt>
                <c:pt idx="24">
                  <c:v>0.9829424307036247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v3 (DenseNet-121+CBAM)</c:v>
                </c:pt>
              </c:strCache>
            </c:strRef>
          </c:tx>
          <c:spPr>
            <a:solidFill>
              <a:srgbClr val="27AE60"/>
            </a:solidFill>
            <a:ln w="25400" cap="flat">
              <a:solidFill>
                <a:srgbClr val="27AE6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7AE60"/>
              </a:solidFill>
              <a:ln w="9525" cap="flat">
                <a:solidFill>
                  <a:srgbClr val="27AE6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0.5560283687943263</c:v>
                </c:pt>
                <c:pt idx="1">
                  <c:v>0.8846584546472565</c:v>
                </c:pt>
                <c:pt idx="2">
                  <c:v>0.9427027027027027</c:v>
                </c:pt>
                <c:pt idx="3">
                  <c:v>0.9414364640883978</c:v>
                </c:pt>
                <c:pt idx="4">
                  <c:v>0.9601722282023681</c:v>
                </c:pt>
                <c:pt idx="5">
                  <c:v>0.9721030042918455</c:v>
                </c:pt>
                <c:pt idx="6">
                  <c:v>0.9796791443850268</c:v>
                </c:pt>
                <c:pt idx="7">
                  <c:v>0.970620239390642</c:v>
                </c:pt>
                <c:pt idx="8">
                  <c:v>0.9625668449197861</c:v>
                </c:pt>
                <c:pt idx="9">
                  <c:v>0.9555555555555556</c:v>
                </c:pt>
                <c:pt idx="10">
                  <c:v>0.9744680851063829</c:v>
                </c:pt>
                <c:pt idx="11">
                  <c:v>0.9709989258861439</c:v>
                </c:pt>
                <c:pt idx="12">
                  <c:v>0.9709989258861439</c:v>
                </c:pt>
                <c:pt idx="13">
                  <c:v>0.9778247096092925</c:v>
                </c:pt>
                <c:pt idx="14">
                  <c:v>0.9840255591054313</c:v>
                </c:pt>
                <c:pt idx="15">
                  <c:v>0.9819341126461212</c:v>
                </c:pt>
                <c:pt idx="16">
                  <c:v>0.9808917197452229</c:v>
                </c:pt>
                <c:pt idx="17">
                  <c:v>0.986096256684492</c:v>
                </c:pt>
                <c:pt idx="18">
                  <c:v>0.9818569903948773</c:v>
                </c:pt>
                <c:pt idx="19">
                  <c:v>0.9839228295819936</c:v>
                </c:pt>
                <c:pt idx="20">
                  <c:v>0.983991462113127</c:v>
                </c:pt>
                <c:pt idx="21">
                  <c:v>0.9840255591054313</c:v>
                </c:pt>
                <c:pt idx="22">
                  <c:v>0.9829424307036247</c:v>
                </c:pt>
                <c:pt idx="23">
                  <c:v>0.9830148619957537</c:v>
                </c:pt>
                <c:pt idx="24">
                  <c:v>0.9830148619957537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4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F6470"/>
                    </a:solidFill>
                    <a:latin typeface="Arial"/>
                  </a:rPr>
                  <a:t>Epoch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4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3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4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F6470"/>
                    </a:solidFill>
                    <a:latin typeface="Arial"/>
                  </a:rPr>
                  <a:t>Validation F1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video" Target="../media/media-17-2.mp4"/><Relationship Id="rId3" Type="http://schemas.microsoft.com/office/2007/relationships/media" Target="../media/media-17-2.mp4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44200" y="411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50292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LOGIC &amp; NEURAL NETWORKS  ·  SEMINAR 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4400" y="187452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Lung Cancer Classification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914400" y="3200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0CA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Data Leakage Diagnosis to Patient-Level LUNA16 Models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4069080"/>
            <a:ext cx="731520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297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Huu Thuc Tran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26164741  ·  </a:t>
            </a:r>
            <a:pPr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26131779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Rabiul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[Student ID — TBC]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Lung Cancer Classification Matters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1828800"/>
            <a:ext cx="6217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cancer death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1.8 million deaths worldwide each year (WHO).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is decisive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survival jumps from ~5 % (late stage) to ~60 % when detected via low-dose CT screening.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screening bottleneck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Radiologists must inspect 200–400 slices per patient — slow, tiring, and inter-reader variable.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315200" y="1828800"/>
            <a:ext cx="4297680" cy="411480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2057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TASK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24688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Binary nodule classification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589520" y="3703320"/>
            <a:ext cx="548640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0" y="388620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× 64 CT patch (50 mm region)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nodule  /  non-nodule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leakage-free, clinically credible classifier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MOTIVATIONS · AIMS · OBJECTIVES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Project — and What we Aim to Deliver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36576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365760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Motivations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radiologist workload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detection consistency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clinically credible benchmark — not an inflated 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1828800"/>
            <a:ext cx="36576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28800"/>
            <a:ext cx="365760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719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7200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CNN for binary nodule classification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a leakage-free evaluation protocol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regularisation &amp; architecture choices systematically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138160" y="1828800"/>
            <a:ext cx="36576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28800"/>
            <a:ext cx="365760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6676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6676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data split (no patient overlap)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9-metric suite: Acc, Bal-Acc, Prec, Rec, Spec, F1, MCC, ROC-AUC, PR-AUC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improvement: baseline → +regularisation → backbone swap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STORY ARC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“Too Good to be True” to a Trustworthy Result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109728" cy="42976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IQ-OTH/NCCD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2296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attempt — suspicion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320040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1 097 CT slices, 3 classes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baseline → 99 %+ accuracy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“Too good to be true” warning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06240" y="3977640"/>
            <a:ext cx="13716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43400" y="182880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43400" y="1828800"/>
            <a:ext cx="109728" cy="429768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1772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17720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Investigation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61772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leakage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617720" y="320040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Pixel-correlation analysis between train and test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near-identical adjacent slices in both sets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Inflated metrics confirmed — discard random split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01000" y="3977640"/>
            <a:ext cx="13716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8138160" y="182880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38160" y="1828800"/>
            <a:ext cx="109728" cy="42976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412480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Pivot to LUNA16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41248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evaluation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412480" y="320040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 patients, candidate-based annotations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split: subsets 0–6 train, 7 val, 8+9 test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Honest, comparable metrics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FUNCTIONAL BLOCK DIAGRAM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Pipeline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CT Volumes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.mhd / .raw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 patients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2788920"/>
            <a:ext cx="27432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743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743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Extraction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88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World→Voxel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mm · 64×64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[-1000, 400]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54880" y="2788920"/>
            <a:ext cx="27432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029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029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074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· Rotate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Erasing · MixUp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040880" y="2788920"/>
            <a:ext cx="27432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315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D7192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315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+ CBAM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360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/ DenseNet-121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+ Spatial Attn.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326880" y="2788920"/>
            <a:ext cx="27432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601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9601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Head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646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 · Dropout 0.4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Linear(2)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4023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4343400"/>
            <a:ext cx="269748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436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94360" y="4709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0.25 · γ = 2.0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37560" y="4343400"/>
            <a:ext cx="269748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47472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474720" y="4709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 = 1e-4 · clip 1.0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17920" y="4343400"/>
            <a:ext cx="269748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5508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OneCycleLR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355080" y="4709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max_lr = 5e-4 · cos anneal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9098280" y="4343400"/>
            <a:ext cx="269748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23544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Precision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9235440" y="4709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+ Early Stop (val F1)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5-View Test-Time Augmentation:  </a:t>
            </a:r>
            <a:pPr indent="0" marL="0">
              <a:buNone/>
            </a:pPr>
            <a:r>
              <a:rPr lang="en-US" sz="13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h-flip · v-flip · rot90 · rot270   →   averaged softmax → final prediction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MODEL ARCHITECTURE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Versions, Identical Recipe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&amp; Head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2860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64×64 (resized 224, 3-ch grayscale)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7432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(ImageNet V2 pretrained)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200400"/>
            <a:ext cx="5029200" cy="41148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200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ResNet-50 (v1, v2)  ·  DenseNet-121 (v3)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6576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3657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CBAM Attention (v2, v3 only)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4114800"/>
            <a:ext cx="5029200" cy="41148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4114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Channel Attention  →  Spatial Attention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45720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4572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AvgPool 1×1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50292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5029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Head: BatchNorm  +  Dropout 0.4  +  Linear(2)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43600" y="1828800"/>
            <a:ext cx="57607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943600" y="1828800"/>
            <a:ext cx="109728" cy="420624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17920" y="1965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model variants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2468880"/>
            <a:ext cx="5303520" cy="1097280"/>
          </a:xfrm>
          <a:prstGeom prst="rect">
            <a:avLst/>
          </a:prstGeom>
          <a:solidFill>
            <a:srgbClr val="EEEEEE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55080" y="2514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 ·  Baseline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355080" y="29260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 ·  weighted CE  ·  no MixUp  ·  no TTA  ·  30 epochs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17920" y="3675888"/>
            <a:ext cx="5303520" cy="1097280"/>
          </a:xfrm>
          <a:prstGeom prst="rect">
            <a:avLst/>
          </a:prstGeom>
          <a:solidFill>
            <a:srgbClr val="FCE6E7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355080" y="37216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 ·  Improved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355080" y="41330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 +  CBAM  +  Focal  +  MixUp  +  TTA  ·  25 epochs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17920" y="4882896"/>
            <a:ext cx="5303520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355080" y="492861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 ·  Backbone Swap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355080" y="5340096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DenseNet-121  +  CBAM  +  Focal  +  MixUp  +  TTA  ·  25 epochs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CUSTOM MODULE: CBAM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 + Spatial Attention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60020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extension to ResNet-50 that gives the network a learned “where + what to look at” mechanism.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011680"/>
            <a:ext cx="55778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2011680"/>
            <a:ext cx="557784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17627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CHANNEL ATTENTION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24505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“Which channels matter?”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85800" y="2971800"/>
            <a:ext cx="5120640" cy="50292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9900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F2C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M_c  =  σ ( MLP( AvgPool(F) )  +  MLP( MaxPool(F) ) 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361188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Squeezes the spatial dims H×W → 1×1 per channel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parallel pools (avg + max) feed a shared 2-layer MLP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produces an importance weight per channel  (vector of length 2048)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as element-wise multiplication:   F′ = M_c ⊗ F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55778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26480" y="2011680"/>
            <a:ext cx="557784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217627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SPATIAL ATTENTION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355080" y="24505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“Where to look?”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355080" y="2971800"/>
            <a:ext cx="5120640" cy="50292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0" y="29900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F2C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M_s  =  σ ( Conv₇×₇ ( [ AvgPool_c(F′) ; MaxPool_c(F′) ] ) 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55080" y="361188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Squeezes the channels C → 1 channel  (avg + max stack: 2 × H × W)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× 7 convolution learns a spatial saliency map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produces an importance weight per pixel  (H × W map)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as element-wise multiplication:   F″ = M_s ⊗ F′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5715000"/>
            <a:ext cx="109728" cy="77724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779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" y="60533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(2048 × 7 × 7)  →  Channel Attention  →  F′  →  Spatial Attention  →  F″ 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inserted after ResNet-50's layer4  ·  ~500 K added params (≈ 2 % of ResNet-50)  ·  </a:t>
            </a:r>
            <a:pPr indent="0" marL="0">
              <a:buNone/>
            </a:pPr>
            <a:r>
              <a:rPr lang="en-US" sz="12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Woo et al. (ECCV 2018)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TEST-TIME AUGMENTATION (TTA)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5-View Inference-Time Averaging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60020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ablation component that consistently improved every metric over v1. Used by all three of our final models.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965960"/>
            <a:ext cx="55778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1965960"/>
            <a:ext cx="557784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23774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TTA works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13232" y="2926080"/>
            <a:ext cx="91440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294436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3232" y="3255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719072" y="2926080"/>
            <a:ext cx="91440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719072" y="294436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H-flip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719072" y="3255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←→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724912" y="2926080"/>
            <a:ext cx="91440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4912" y="294436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V-flip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724912" y="3255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↕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730752" y="2926080"/>
            <a:ext cx="91440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730752" y="294436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 90°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730752" y="3255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↻ 90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736592" y="2926080"/>
            <a:ext cx="91440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294436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 270°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736592" y="3255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↻ 270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85800" y="39319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5 augmented copies of each test patch.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each through the same trained model.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the softmax probabilities.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argmax for the final prediction.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85800" y="5394960"/>
            <a:ext cx="5120640" cy="5486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13232" y="5422392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2C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P_final(y | x)   =   (1 / 5)   ·   Σᵢ   P(y | tᵢ(x))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126480" y="1965960"/>
            <a:ext cx="55778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126480" y="1965960"/>
            <a:ext cx="557784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35508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355080" y="23774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 + variance reduction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55080" y="28346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robustness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single orientation may produce noisy predictions; averaging smooths those out.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prediction variance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flip / rotation is a partially-independent sample of the model's belief about the same patch.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at training time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TTA happens only at inference, adds no parameters, no retraining.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355080" y="4754880"/>
            <a:ext cx="5120640" cy="1188720"/>
          </a:xfrm>
          <a:prstGeom prst="rect">
            <a:avLst/>
          </a:prstGeom>
          <a:solidFill>
            <a:srgbClr val="FCE6E7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92240" y="481888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ABLATION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492240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alone   :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0.9399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+ TTA :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0.9474</a:t>
            </a:r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(+0.0074, only component above noise floor)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is the only ablation component that cleared the ±0.008 F1 noise floor — and it's our final deployment ingredient: </a:t>
            </a:r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+ TTA.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BETWEEN VERSIONS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Exactly What Changes from v1 → v2 → v3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 · 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 ·  Improved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19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 ·  Backbone Swap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DenseNet-121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 M  (3× smaller)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CBAM 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Function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Loss (α=0.25, γ=2)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Loss (α=0.25, γ=2)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MixUp Augmentation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Test-Time Augmentation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5-view averaged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5-view averaged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5349240"/>
            <a:ext cx="109728" cy="1188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lineage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40080" y="57607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= v1 + the four improvements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(CBAM attention · Focal loss · MixUp augmentation · TTA)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that directly target ResNet-50's known limitations: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explicit attention, naive treatment of class imbalance, weak regularisation, single-pass inference.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= v2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backbone swapped to a smaller, parameter-efficient architecture.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and Patient-Level Split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828800"/>
            <a:ext cx="3657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828800"/>
            <a:ext cx="365760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993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86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4 972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64008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 ·  623 patients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Subsets 0–6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51960" y="1828800"/>
            <a:ext cx="3657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1828800"/>
            <a:ext cx="365760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34840" y="1993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434840" y="2286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43484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 ·  89 patients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 7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46720" y="1828800"/>
            <a:ext cx="3657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1828800"/>
            <a:ext cx="365760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0" y="1993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9600" y="2286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1 528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822960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 ·  176 patients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Subsets 8 + 9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794760"/>
            <a:ext cx="11247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split (Option B)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" y="4343400"/>
            <a:ext cx="10881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partitioning 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no patient appears in two splits.  </a:t>
            </a:r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(Audited: zero overlap across 623 / 89 / 176 patients.)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doubled 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662 → 1 528 patches  ⇒  CI on F1 narrows from ±0.012 to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±0.008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prevalence is consistent across splits (≈ 22 % nodule).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class throughout this deck = nodule.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Audit note: </a:t>
            </a:r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final sanity check we found that the original metric code used pos_label = 1, but PyTorch's ImageFolder had alphabetically mapped nodule → 0. Recall and Specificity were therefore inverted in our earlier reports. </a:t>
            </a:r>
            <a:pPr indent="0" marL="0"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numbers in this deck are post-correction.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3-WAY COMPARISON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Metrics on 1 528 Held-Out Patches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7724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54480"/>
                <a:gridCol w="15544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(single)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(+TTA)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(+TTA)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(Sensitivity)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595360" y="1828800"/>
            <a:ext cx="32004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595360" y="1828800"/>
            <a:ext cx="109728" cy="41148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778240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read this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778240" y="2423160"/>
            <a:ext cx="2926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bold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best value in each row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6 of 9  (incl. F1, Recall, MCC, AUC)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Precision, Specificity, PR-AUC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tied or below on every metric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—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deltas fit </a:t>
            </a:r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±0.008 F1 confidence interval</a:t>
            </a:r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see Ablation slide for the cleanest individual configuration.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LEARNING CURVES &amp; ERRORS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Three Models Reach the Same Ceiling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731520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Confusion (v1 + TTA  — F1 = 0.9474)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286000"/>
          <a:ext cx="4389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Pred. non-nodule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Pred. nodule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non-nodule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nodule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7315200" y="4434840"/>
            <a:ext cx="43891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7315200" y="4434840"/>
            <a:ext cx="109728" cy="150876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498080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Over/underfitting check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7498080" y="484632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98.8% / val 98.1%, gap +0.7%  ✓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≥ train  (MixUp signature)  ✓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≥ train  (MixUp signature)  ✓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&amp; DISCUSSION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Findings — what we learned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828800"/>
            <a:ext cx="55778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828800"/>
            <a:ext cx="557784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85800" y="2331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three models hit the same ceiling.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85800" y="324612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≈ 0.94, AUC ≈ 0.99, MCC ≈ 0.92 across v1, v2, v3 (nodule = positive).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pair-wise F1 delta: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0.010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comparable to the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±0.008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confidence interval at this test size.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Statistically: </a:t>
            </a:r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are nearly indistinguishable on accuracy-type metrics.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5778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26480" y="1828800"/>
            <a:ext cx="557784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355080" y="2331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&gt; architecture at this scale.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355080" y="324612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1 407-patch run: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beat v1 by ≈ +2.6 F1.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(4 972 patches):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vanishes.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tricks (CBAM, Focal, MixUp) help most when training data is scarce.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sufficient data, plain ResNet-50 is enough — and TTA is the only inference-time win that consistently helps.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Take-away:  </a:t>
            </a:r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data moved the needle far more than any architectural trick.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— EACH COMPONENT IN ISOLATION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Each Improvement Contributes Alone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1280160"/>
                <a:gridCol w="1463040"/>
                <a:gridCol w="15544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F1 vs v1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+ CBAM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marginally hurts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+ Focal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recall · more FPs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+ MixUp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tied within noise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+ TTA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 best — chosen as final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 (all four)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— gains cancel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983480"/>
            <a:ext cx="112471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4983480"/>
            <a:ext cx="109728" cy="155448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5074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ablation tells us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40080" y="5440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CBAM, Focal Loss, and MixUp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each drift inside the ±0.008 F1 noise band — meaningful research attempts that did not pay off at this data scale (a common outcome in real ML projects).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a consistent improvement across F1, MCC, Recall, AUC, and Specificity — and it's a free inference-time win on top of the baseline.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 adopt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+ TTA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our final deployment model.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Model Should We Deploy?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828800"/>
            <a:ext cx="5029200" cy="42976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PICK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33172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 + TTA</a:t>
            </a:r>
            <a:endParaRPr lang="en-US" sz="7200" dirty="0"/>
          </a:p>
        </p:txBody>
      </p:sp>
      <p:sp>
        <p:nvSpPr>
          <p:cNvPr id="10" name="Text 7"/>
          <p:cNvSpPr/>
          <p:nvPr/>
        </p:nvSpPr>
        <p:spPr>
          <a:xfrm>
            <a:off x="640080" y="3749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ResNet-50 baseline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0080" y="4160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5-view Test-Time Augmentation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548640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8920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metrics  (nodule = positive)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0.9474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0.9347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0.9329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= 0.9934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760720" y="18288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v1 + TTA — the ablation's clearest winner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760720" y="2331720"/>
            <a:ext cx="502920" cy="50292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6072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2286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on every metric that matters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0" y="262432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F1 (0.9474), highest MCC (0.9329), highest ROC-AUC (0.9934), highest Accuracy (0.9771). Beats v2 across the board, despite v2 carrying three additional components.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760720" y="3291840"/>
            <a:ext cx="502920" cy="50292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6072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00800" y="32461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cancer-detection rate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00800" y="358444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315 of 337 nodules (Recall = 0.9347) — misses only 22. In medical screening, recall is the clinically critical direction; v1 + TTA wins it cleanly.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60720" y="4251960"/>
            <a:ext cx="502920" cy="50292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6072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Fewest false alarms too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400800" y="454456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13 false-positive predictions (Specificity = 0.9891), the lowest of all six configurations. So we don't trade precision for recall — we improve both simultaneously.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760720" y="5212080"/>
            <a:ext cx="502920" cy="50292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6072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640080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 possible deployment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0800" y="55046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trained model as v1 — no new parameters, no retraining cost. TTA is just 5 inference passes averaged. Easiest model to maintain, audit, and explain.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— 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CBAM interpretability heatmaps are required for clinical UI  · 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edge / low-VRAM deployment (3× smaller).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delivered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874520"/>
            <a:ext cx="731520" cy="731520"/>
          </a:xfrm>
          <a:prstGeom prst="ellipse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371600" y="1828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Leakage-free LUNA16 classifier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2240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 across full LUNA16 (888 patients). Test = 1 528 patches across 176 unseen patients — audited, zero overlap.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926080"/>
            <a:ext cx="731520" cy="731520"/>
          </a:xfrm>
          <a:prstGeom prst="ellipse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2926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371600" y="28803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models + four-component ablation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32918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(ResNet-50) · v2 (+CBAM, Focal, MixUp, TTA) · v3 (DenseNet-121+CBAM, …) + v1 with each component in isolation.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7200" y="3977640"/>
            <a:ext cx="731520" cy="731520"/>
          </a:xfrm>
          <a:prstGeom prst="ellipse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3716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deployment: v1 + TTA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371600" y="4343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0.9474 · Recall = 0.9347 · MCC = 0.9329 · AUC = 0.9934 — catches 315 of 337 nodules with only 13 false alarms.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5029200"/>
            <a:ext cx="731520" cy="731520"/>
          </a:xfrm>
          <a:prstGeom prst="ellipse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5029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498348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scientific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371600" y="53949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patient-level leakage on IQ-OTH/NCCD, caught a metric-reporting bug ourselves during sanity-check, reported corrected numbers with CIs.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DEMONSTRATION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(≤ 1 minute)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554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live inference  · 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unseen test patches  ·  CBAM spatial-attention heatmap overlaid  ·  </a:t>
            </a:r>
            <a:pPr algn="ctr" indent="0" marL="0">
              <a:buNone/>
            </a:pPr>
            <a:r>
              <a:rPr lang="en-US" sz="11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= v2 (interpretability illustration); deployment model is v1 + TTA.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39112" y="1865376"/>
            <a:ext cx="8083296" cy="4590288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93976" y="1920240"/>
            <a:ext cx="7973568" cy="44805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CONTRIBUTIONS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Roles &amp; What Each Member Did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280160"/>
                <a:gridCol w="621792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Huu Thuc Tran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26164741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acquisition + extraction; patient-leakage analysis on IQ-OTH/NCCD; LUNA16 patch pipeline; implementation, training and evaluation of v1, v2, v3 (CBAM, Focal Loss, MixUp, TTA); 9-metric comparison study; final report.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26131779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design (Seminar 1) and initial Seminar 2 draft; early literature review on lung cancer detection.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Rabiul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[Student ID — TBC]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review on lung-nodule classification methods.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5669280"/>
            <a:ext cx="11247120" cy="59436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56692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Team-roles statement: 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Leader handled implementation and analytical work; teammates contributed to communication and literature support. </a:t>
            </a:r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members agreed the contribution split above is accurate.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C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44200" y="411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50292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2860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6" name="Shape 3"/>
          <p:cNvSpPr/>
          <p:nvPr/>
        </p:nvSpPr>
        <p:spPr>
          <a:xfrm>
            <a:off x="914400" y="3657600"/>
            <a:ext cx="731520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40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0CA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Lung Cancer Classification — Seminar 2</dc:title>
  <dc:subject>PptxGenJS Presentation</dc:subject>
  <dc:creator>Huu Thuc Tran</dc:creator>
  <cp:lastModifiedBy>Huu Thuc Tran</cp:lastModifiedBy>
  <cp:revision>1</cp:revision>
  <dcterms:created xsi:type="dcterms:W3CDTF">2026-05-12T07:26:02Z</dcterms:created>
  <dcterms:modified xsi:type="dcterms:W3CDTF">2026-05-12T07:26:02Z</dcterms:modified>
</cp:coreProperties>
</file>
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C4F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0F2C4F"/>
                </a:solidFill>
                <a:latin typeface="Georgia"/>
              </a:rPr>
              <a:t>Validation F1 across epochs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(ResNet-50)</c:v>
                </c:pt>
              </c:strCache>
            </c:strRef>
          </c:tx>
          <c:spPr>
            <a:ln w="25400" cap="flat">
              <a:solidFill>
                <a:srgbClr val="0F2C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2C4F"/>
              </a:solidFill>
              <a:ln w="9525" cap="flat">
                <a:solidFill>
                  <a:srgbClr val="0F2C4F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0.60137931034482761</c:v>
                </c:pt>
                <c:pt idx="1">
                  <c:v>0.77763975155279508</c:v>
                </c:pt>
                <c:pt idx="2">
                  <c:v>0.87485101311084623</c:v>
                </c:pt>
                <c:pt idx="3">
                  <c:v>0.92533936651583715</c:v>
                </c:pt>
                <c:pt idx="4">
                  <c:v>0.91324200913242004</c:v>
                </c:pt>
                <c:pt idx="5">
                  <c:v>0.92238470191226096</c:v>
                </c:pt>
                <c:pt idx="6">
                  <c:v>0.86819830713422008</c:v>
                </c:pt>
                <c:pt idx="7">
                  <c:v>0.94026548672566368</c:v>
                </c:pt>
                <c:pt idx="8">
                  <c:v>0.95005549389567145</c:v>
                </c:pt>
                <c:pt idx="9">
                  <c:v>0.94525139664804469</c:v>
                </c:pt>
                <c:pt idx="10">
                  <c:v>0.95374449339207046</c:v>
                </c:pt>
                <c:pt idx="11">
                  <c:v>0.95584988962472406</c:v>
                </c:pt>
                <c:pt idx="12">
                  <c:v>0.95479603087100329</c:v>
                </c:pt>
                <c:pt idx="13">
                  <c:v>0.95929592959295928</c:v>
                </c:pt>
                <c:pt idx="14">
                  <c:v>0.96141124586549065</c:v>
                </c:pt>
                <c:pt idx="15">
                  <c:v>0.96746203904555317</c:v>
                </c:pt>
                <c:pt idx="16">
                  <c:v>0.96634093376764385</c:v>
                </c:pt>
                <c:pt idx="17">
                  <c:v>0.96844396082698581</c:v>
                </c:pt>
                <c:pt idx="18">
                  <c:v>0.97835497835497831</c:v>
                </c:pt>
                <c:pt idx="19">
                  <c:v>0.97724810400866735</c:v>
                </c:pt>
                <c:pt idx="20">
                  <c:v>0.9806034482758621</c:v>
                </c:pt>
                <c:pt idx="21">
                  <c:v>0.98283261802575106</c:v>
                </c:pt>
                <c:pt idx="22">
                  <c:v>0.98275862068965514</c:v>
                </c:pt>
                <c:pt idx="23">
                  <c:v>0.98491379310344829</c:v>
                </c:pt>
                <c:pt idx="24">
                  <c:v>0.98712446351931327</c:v>
                </c:pt>
                <c:pt idx="25">
                  <c:v>0.98606645230439438</c:v>
                </c:pt>
                <c:pt idx="26">
                  <c:v>0.98715203426124198</c:v>
                </c:pt>
                <c:pt idx="27">
                  <c:v>0.9882352941176471</c:v>
                </c:pt>
                <c:pt idx="28">
                  <c:v>0.9882352941176471</c:v>
                </c:pt>
                <c:pt idx="29">
                  <c:v>0.9882352941176471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6DE-49F2-B993-7F3325FF48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(ResNet-50+CBAM, Focal)</c:v>
                </c:pt>
              </c:strCache>
            </c:strRef>
          </c:tx>
          <c:spPr>
            <a:ln w="25400" cap="flat">
              <a:solidFill>
                <a:srgbClr val="B850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0.71121718377088305</c:v>
                </c:pt>
                <c:pt idx="1">
                  <c:v>0.73469387755102045</c:v>
                </c:pt>
                <c:pt idx="2">
                  <c:v>0.85039370078740162</c:v>
                </c:pt>
                <c:pt idx="3">
                  <c:v>0.95147679324894519</c:v>
                </c:pt>
                <c:pt idx="4">
                  <c:v>0.95744680851063835</c:v>
                </c:pt>
                <c:pt idx="5">
                  <c:v>0.92954545454545456</c:v>
                </c:pt>
                <c:pt idx="6">
                  <c:v>0.95680345572354208</c:v>
                </c:pt>
                <c:pt idx="7">
                  <c:v>0.94618834080717484</c:v>
                </c:pt>
                <c:pt idx="8">
                  <c:v>0.96336206896551724</c:v>
                </c:pt>
                <c:pt idx="9">
                  <c:v>0.96078431372549022</c:v>
                </c:pt>
                <c:pt idx="10">
                  <c:v>0.96724890829694321</c:v>
                </c:pt>
                <c:pt idx="11">
                  <c:v>0.97763578274760388</c:v>
                </c:pt>
                <c:pt idx="12">
                  <c:v>0.95956284153005467</c:v>
                </c:pt>
                <c:pt idx="13">
                  <c:v>0.9732620320855615</c:v>
                </c:pt>
                <c:pt idx="14">
                  <c:v>0.97972251867662752</c:v>
                </c:pt>
                <c:pt idx="15">
                  <c:v>0.97216274089935761</c:v>
                </c:pt>
                <c:pt idx="16">
                  <c:v>0.97773064687168609</c:v>
                </c:pt>
                <c:pt idx="17">
                  <c:v>0.97763578274760388</c:v>
                </c:pt>
                <c:pt idx="18">
                  <c:v>0.978494623655914</c:v>
                </c:pt>
                <c:pt idx="19">
                  <c:v>0.98185699039487728</c:v>
                </c:pt>
                <c:pt idx="20">
                  <c:v>0.97959183673469385</c:v>
                </c:pt>
                <c:pt idx="21">
                  <c:v>0.98193411264612118</c:v>
                </c:pt>
                <c:pt idx="22">
                  <c:v>0.98286937901498928</c:v>
                </c:pt>
                <c:pt idx="23">
                  <c:v>0.98181818181818181</c:v>
                </c:pt>
                <c:pt idx="24">
                  <c:v>0.98294243070362475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6DE-49F2-B993-7F3325FF48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 (DenseNet-121+CBAM)</c:v>
                </c:pt>
              </c:strCache>
            </c:strRef>
          </c:tx>
          <c:spPr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0.55602836879432627</c:v>
                </c:pt>
                <c:pt idx="1">
                  <c:v>0.88465845464725645</c:v>
                </c:pt>
                <c:pt idx="2">
                  <c:v>0.94270270270270273</c:v>
                </c:pt>
                <c:pt idx="3">
                  <c:v>0.94143646408839776</c:v>
                </c:pt>
                <c:pt idx="4">
                  <c:v>0.96017222820236814</c:v>
                </c:pt>
                <c:pt idx="5">
                  <c:v>0.97210300429184548</c:v>
                </c:pt>
                <c:pt idx="6">
                  <c:v>0.97967914438502679</c:v>
                </c:pt>
                <c:pt idx="7">
                  <c:v>0.97062023939064201</c:v>
                </c:pt>
                <c:pt idx="8">
                  <c:v>0.96256684491978606</c:v>
                </c:pt>
                <c:pt idx="9">
                  <c:v>0.9555555555555556</c:v>
                </c:pt>
                <c:pt idx="10">
                  <c:v>0.97446808510638294</c:v>
                </c:pt>
                <c:pt idx="11">
                  <c:v>0.97099892588614389</c:v>
                </c:pt>
                <c:pt idx="12">
                  <c:v>0.97099892588614389</c:v>
                </c:pt>
                <c:pt idx="13">
                  <c:v>0.97782470960929246</c:v>
                </c:pt>
                <c:pt idx="14">
                  <c:v>0.98402555910543132</c:v>
                </c:pt>
                <c:pt idx="15">
                  <c:v>0.98193411264612118</c:v>
                </c:pt>
                <c:pt idx="16">
                  <c:v>0.98089171974522293</c:v>
                </c:pt>
                <c:pt idx="17">
                  <c:v>0.98609625668449197</c:v>
                </c:pt>
                <c:pt idx="18">
                  <c:v>0.98185699039487728</c:v>
                </c:pt>
                <c:pt idx="19">
                  <c:v>0.98392282958199362</c:v>
                </c:pt>
                <c:pt idx="20">
                  <c:v>0.98399146211312705</c:v>
                </c:pt>
                <c:pt idx="21">
                  <c:v>0.98402555910543132</c:v>
                </c:pt>
                <c:pt idx="22">
                  <c:v>0.98294243070362475</c:v>
                </c:pt>
                <c:pt idx="23">
                  <c:v>0.98301486199575372</c:v>
                </c:pt>
                <c:pt idx="24">
                  <c:v>0.98301486199575372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6DE-49F2-B993-7F3325FF4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47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647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47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6470"/>
                    </a:solidFill>
                    <a:latin typeface="Arial"/>
                  </a:rPr>
                  <a:t>Validation 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49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44200" y="411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02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8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&amp; NEURAL NETWORKS  ·  SEMINAR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Lung Cancer Classification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0C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Leakage Diagnosis to Patient-Level LUNA16 Models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4069080"/>
            <a:ext cx="731520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297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Huu Thuc Tran</a:t>
            </a:r>
            <a:r>
              <a:rPr lang="en-US" sz="16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26164741  ·  </a:t>
            </a:r>
            <a:r>
              <a:rPr lang="en-US" sz="1600" i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r>
              <a:rPr lang="en-US" sz="16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26131779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Rabiul</a:t>
            </a:r>
            <a:r>
              <a:rPr lang="en-US" sz="16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[Student ID — TBC]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Lung Cancer Classification Matters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6217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cancer death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1.8 million deaths worldwide each year (WHO).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is decisive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jumps from ~5 % (late stage) to ~60 % when detected via low-dose CT screening.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bottleneck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must inspect 200–400 slices per patient — slow, tiring, and inter-reader variable.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1828800"/>
            <a:ext cx="4297680" cy="411480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8952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24688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nodule classification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589520" y="3703320"/>
            <a:ext cx="548640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89520" y="3886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64 CT patch (50 mm region)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nodule  /  non-nodule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leakage-free, clinically credible classifier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MOTIVATIONS · AIMS · OBJECTIVES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— and What we Aim to Deliver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657600" cy="73152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606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radiologist workload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detection consistency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clinically credible benchmark — not an inflated one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18288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43400" y="1828800"/>
            <a:ext cx="3657600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19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0" y="2606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for binary nodule classification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leakage-free evaluation protocol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regularisation &amp; architecture choices systematically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38160" y="1828800"/>
            <a:ext cx="3657600" cy="73152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6676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66760" y="2606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data split (no patient overlap)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9-metric suite: Acc, Bal-Acc, Prec, Rec, Spec, F1, MCC, ROC-AUC, PR-AUC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improvement: baseline → +regularisation → backbone swap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STORY ARC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“Too Good to be True” to a Trustworthy Result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09728" cy="429768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IQ-OTH/NCCD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— suspicion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2004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1 097 CT slices, 3 classes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baseline → 99 %+ accuracy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“Too good to be true” warning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06240" y="3977640"/>
            <a:ext cx="137160" cy="0"/>
          </a:xfrm>
          <a:prstGeom prst="line">
            <a:avLst/>
          </a:prstGeom>
          <a:noFill/>
          <a:ln w="25400">
            <a:solidFill>
              <a:srgbClr val="5F64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4340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43400" y="1828800"/>
            <a:ext cx="109728" cy="42976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177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1772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Investigation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6177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leakage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32004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Pixel-correlation analysis between train and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near-identical adjacent slices in both 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metrics confirmed — discard random split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01000" y="3977640"/>
            <a:ext cx="137160" cy="0"/>
          </a:xfrm>
          <a:prstGeom prst="line">
            <a:avLst/>
          </a:prstGeom>
          <a:noFill/>
          <a:ln w="25400">
            <a:solidFill>
              <a:srgbClr val="5F64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13816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38160" y="1828800"/>
            <a:ext cx="109728" cy="429768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1248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41248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to LUNA16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4124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evaluation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412480" y="32004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 patients, candidate-based annotations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split: subsets 0–6 train, 7 val, 8+9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comparable metrics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FUNCTIONAL BLOCK DIAGRAM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C4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CT Volumes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.mhd / .raw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 patients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2788920"/>
            <a:ext cx="274320" cy="0"/>
          </a:xfrm>
          <a:prstGeom prst="line">
            <a:avLst/>
          </a:prstGeom>
          <a:noFill/>
          <a:ln w="25400">
            <a:solidFill>
              <a:srgbClr val="5F64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0" y="210312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C4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Extraction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8892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World→Voxel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mm · 64×64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[-1000, 400]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788920"/>
            <a:ext cx="274320" cy="0"/>
          </a:xfrm>
          <a:prstGeom prst="line">
            <a:avLst/>
          </a:prstGeom>
          <a:noFill/>
          <a:ln w="25400">
            <a:solidFill>
              <a:srgbClr val="5F64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29200" y="210312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C4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· Rotate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Erasing · MixUp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2788920"/>
            <a:ext cx="274320" cy="0"/>
          </a:xfrm>
          <a:prstGeom prst="line">
            <a:avLst/>
          </a:prstGeom>
          <a:noFill/>
          <a:ln w="25400">
            <a:solidFill>
              <a:srgbClr val="5F64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315200" y="210312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7192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+ CBAM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6092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/ DenseNet-121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+ Spatial Attn.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326880" y="2788920"/>
            <a:ext cx="274320" cy="0"/>
          </a:xfrm>
          <a:prstGeom prst="line">
            <a:avLst/>
          </a:prstGeom>
          <a:noFill/>
          <a:ln w="25400">
            <a:solidFill>
              <a:srgbClr val="5F64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601200" y="2103120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C4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6012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4692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· Dropout 0.4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023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343400"/>
            <a:ext cx="2697480" cy="7772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94360" y="4709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0.25 · γ = 2.0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337560" y="4343400"/>
            <a:ext cx="2697480" cy="7772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47472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474720" y="4709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 = 1e-4 · clip 1.0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17920" y="4343400"/>
            <a:ext cx="2697480" cy="7772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5508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OneCycleLR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355080" y="4709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max_lr = 5e-4 · cos anneal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098280" y="4343400"/>
            <a:ext cx="2697480" cy="7772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23544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235440" y="4709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+ Early Stop (val F1)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5-View Test-Time Augmentation:  </a:t>
            </a:r>
            <a:r>
              <a:rPr lang="en-US" sz="13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h-flip · v-flip · rot90 · rot270   →   averaged softmax → final prediction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MODEL ARCHITECTURE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Versions, Identical Recipe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&amp; Head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2286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64×64 (resized 224, 3-ch grayscale)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(ImageNet V2 pretrained)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5029200" cy="4114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ResNet-50 (v1, v2)  ·  DenseNet-121 (v3)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3657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 Attention (v2, v3 only)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114800"/>
            <a:ext cx="5029200" cy="4114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Channel Attention  →  Spatial Attention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AvgPool 1×1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5029200"/>
            <a:ext cx="5029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BatchNorm  +  Dropout 0.4  +  Linear(2)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0" y="1828800"/>
            <a:ext cx="5760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43600" y="1828800"/>
            <a:ext cx="109728" cy="420624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1792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model variants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217920" y="2468880"/>
            <a:ext cx="5303520" cy="1097280"/>
          </a:xfrm>
          <a:prstGeom prst="rect">
            <a:avLst/>
          </a:prstGeom>
          <a:solidFill>
            <a:srgbClr val="EEEEEE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35508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Baseline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55080" y="29260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 ·  weighted CE  ·  no MixUp  ·  no TTA  ·  30 epochs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3675888"/>
            <a:ext cx="5303520" cy="1097280"/>
          </a:xfrm>
          <a:prstGeom prst="rect">
            <a:avLst/>
          </a:prstGeom>
          <a:solidFill>
            <a:srgbClr val="FCE6E7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55080" y="37216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Improved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55080" y="41330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 +  CBAM  +  Focal  +  MixUp  +  TTA  ·  25 epochs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17920" y="4882896"/>
            <a:ext cx="5303520" cy="1097280"/>
          </a:xfrm>
          <a:prstGeom prst="rect">
            <a:avLst/>
          </a:prstGeom>
          <a:solidFill>
            <a:srgbClr val="E6EEF7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355080" y="49286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 ·  Backbone Swap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55080" y="534009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 +  CBAM  +  Focal  +  MixUp  +  TTA  ·  25 epochs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VERSIONS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Exactly What Changes from v1 → v2 → v3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336499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 · 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 ·  Improved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19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 ·  Backbone Swap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DenseNet-121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 M  (3× smaller)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 Attention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 (α=0.25, γ=2)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 (α=0.25, γ=2)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MixUp Augmentation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Test-Time Augmentation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5-view averaged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5-view averaged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57200" y="5349240"/>
            <a:ext cx="109728" cy="1188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lineage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57607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= v1 + the four improvements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(CBAM attention · Focal loss · MixUp augmentation · TTA)  that directly target ResNet-50's known limitations: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attention, naive treatment of class imbalance, weak regularisation, single-pass inference.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= v2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backbone swapped to a smaller, parameter-efficient architecture.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and Patient-Level Split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3657600" cy="73152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4 972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 ·  623 patients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0–6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182880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51960" y="1828800"/>
            <a:ext cx="3657600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34840" y="2286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585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44348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 ·  89 patients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7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182880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720" y="1828800"/>
            <a:ext cx="3657600" cy="73152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0" y="22860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1 528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822960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 ·  176 patients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8 + 9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794760"/>
            <a:ext cx="1124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split (Option B)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40080" y="4343400"/>
            <a:ext cx="10881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partitioning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patient appears in two splits.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doubled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662 → 1 528 patches  ⇒  CI on F1 narrows from ±0.012 to </a:t>
            </a:r>
            <a:r>
              <a:rPr lang="en-US" sz="1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±0.008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smaller architectural deltas now become </a:t>
            </a: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detectable.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prevalence is consistent across splits (≈ 22 % nodule), so train-time class imbalance handling generalises to evaluation.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3-WAY COMPARISON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Metrics on 1 528 Held-Out Patches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772400" cy="32918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(single)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(+TTA)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(+TTA)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(Sensitivity)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595360" y="1828800"/>
            <a:ext cx="3200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595360" y="1828800"/>
            <a:ext cx="109728" cy="41148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877824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this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778240" y="242316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best value in each row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7 of 9 metrics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Recall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Precision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—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deltas fit 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±0.008 F1 confidence interval.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LEARNING CURVES &amp; ERRORS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Models Reach the Same Ceiling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82880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731520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(v1, best F1 = 0.9833)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286000"/>
          <a:ext cx="438912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non-nodule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nodule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non-nodule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315200" y="4434840"/>
            <a:ext cx="4389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0" y="4434840"/>
            <a:ext cx="109728" cy="150876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749808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Over/underfitting check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498080" y="48463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98.8% / val 98.1%, gap +0.7%  ✓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≥ train  (MixUp signature)  ✓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≥ train  (MixUp signature)  ✓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Findings — what we learned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5577840" cy="73152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models hit the same ceiling.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32461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≈ 0.98, AUC ≈ 0.99, MCC ≈ 0.92 across v1, v2, v3.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pair-wise F1 delta: </a:t>
            </a:r>
            <a:r>
              <a:rPr lang="en-US" sz="1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smaller than the </a:t>
            </a:r>
            <a:r>
              <a:rPr lang="en-US" sz="1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±0.008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confidence interval at this test size.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Statistically: </a:t>
            </a: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5577840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55080" y="2011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55080" y="2331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&gt; architecture at this scale.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55080" y="32461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1 407-patch run: </a:t>
            </a: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beat v1 by +2.6 F1.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(4 972 patches): </a:t>
            </a: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vanishes.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tricks (CBAM, Focal, MixUp) help most when training data is scarce.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sufficient data, plain ResNet-50 is enough.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moved the needle far more than any architectural trick.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EACH COMPONENT IN ISOLATION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Improvement Contributes Alone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26883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F1 vs 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+ CBAM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within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+ Focal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within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+ MixUp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within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+ TTA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i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improvement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 (all four)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i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98348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57200" y="4983480"/>
            <a:ext cx="109728" cy="155448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ablation tells us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54406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Individually, </a:t>
            </a: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CBAM, Focal Loss, and MixUp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each statistically tied with v1 (Δ within ±0.008 F1 confidence interval).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measurable improvement on its own.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each component addresses a </a:t>
            </a:r>
            <a:r>
              <a:rPr lang="en-US" sz="13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limitation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ResNet-50 — and combining them in v2 produces the </a:t>
            </a:r>
            <a:r>
              <a:rPr lang="en-US" sz="1300" b="1" i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methodologically complete model.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7" name="Text 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Model Should We Deploy?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029200" cy="429768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3317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 + CBAM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· MixUp · TTA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709160"/>
            <a:ext cx="548640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8920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metrics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0.9829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0.9212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0.9917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0.9874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60720" y="1828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v2 — combining the four components into one model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60720" y="2331720"/>
            <a:ext cx="502920" cy="50292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607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Methodologically complete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26243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addresses every known ResNet-50 limitation in one package: no attention → CBAM, naive imbalance handling → Focal Loss, weak regularisation → MixUp, single-pass inference → TTA.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3291840"/>
            <a:ext cx="502920" cy="50292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607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0080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you can show clinicians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0" y="35844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v2 (and v3) produces the CBAM spatial-attention heatmap. v1 + TTA cannot show where the model is looking — a deal-breaker for clinical adoption.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4251960"/>
            <a:ext cx="502920" cy="50292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607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 against deployment shift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0" y="45445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+ MixUp + CBAM together regularise the model against new scanners, new populations, or shifted nodule prevalence — v1 + TTA only adds inference-side averaging.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60720" y="5212080"/>
            <a:ext cx="502920" cy="502920"/>
          </a:xfrm>
          <a:prstGeom prst="ellipse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6072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40080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equivalent on this test set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0800" y="55046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deltas (v1, v1+TTA, v2) sit within the ±0.008 F1 confidence interval. v2's marginal numerical deficit is not a practical disadvantage — its qualitative gains are.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—  v1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quick prototype  ·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edge / mobile / low-VRAM deployment (3× smaller, similar accuracy).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delivered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731520" cy="731520"/>
          </a:xfrm>
          <a:prstGeom prst="ellipse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1600" y="1828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Leakage-free LUNA16 classifier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 across full LUNA16 (888 patients). Test = 1 528 patches across 176 unseen patients.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731520" cy="731520"/>
          </a:xfrm>
          <a:prstGeom prst="ellipse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2880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honestly-compared models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7160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(ResNet-50)  ·  v2 (+CBAM, Focal, MixUp, TTA)  ·  v3 (DenseNet-121+CBAM, Focal, MixUp, TTA)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977640"/>
            <a:ext cx="731520" cy="731520"/>
          </a:xfrm>
          <a:prstGeom prst="ellipse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371600" y="3931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results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7160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0.9833  ·  ROC-AUC = 0.9929  ·  MCC = 0.9233  —  competitive with peer-reviewed LUNA16 baselines.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5029200"/>
            <a:ext cx="731520" cy="731520"/>
          </a:xfrm>
          <a:prstGeom prst="ellipse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71600" y="4983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scientific story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716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corrected patient-level leakage on IQ-OTH/NCCD. Reported deltas with confidence intervals — not just point estimates.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DEMONSTRATION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(≤ 1 minute)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71600" y="1828800"/>
            <a:ext cx="941832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C4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5F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Demo video — to be inserted ]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content: load best model → infer on a held-out test patch → show predicted probability and CBAM heatmap </a:t>
            </a:r>
            <a:r>
              <a:rPr lang="en-US" sz="140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	(</a:t>
            </a:r>
            <a:r>
              <a:rPr lang="en-US" sz="1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60 s).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1100" dirty="0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28016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C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Roles &amp; What Each Member Did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3657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Huu Thuc Tran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26164741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i="1" dirty="0">
                          <a:solidFill>
                            <a:srgbClr val="D719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acquisition + extraction; patient-leakage analysis on IQ-OTH/NCCD; LUNA16 patch pipeline; implementation, training and evaluation of v1, v2, v3 (CBAM, Focal Loss, MixUp, TTA); 9-metric comparison study; final report.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26131779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design (Seminar 1) and initial Seminar 2 draft; early literature review on lung cancer detection.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2C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ID — TBC]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F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 on lung-nodule classification methods.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0F2C4F"/>
          </a:solidFill>
          <a:ln w="12700">
            <a:solidFill>
              <a:srgbClr val="0F2C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Team-roles statement: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handled implementation and analytical work; teammates contributed to communication and literature support.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agreed the contribution split above is accurate.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44200" y="411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uts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02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914400" y="3657600"/>
            <a:ext cx="731520" cy="4572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0C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Classification  ·  Seminar 2  ·  12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5908</TotalTime>
  <Words>1998</Words>
  <Application>Microsoft Office PowerPoint</Application>
  <PresentationFormat>Widescreen</PresentationFormat>
  <Paragraphs>407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Classification — Seminar 2</dc:title>
  <dc:subject>PptxGenJS Presentation</dc:subject>
  <dc:creator>Huu Thuc Tran</dc:creator>
  <cp:lastModifiedBy>Huu Thuc Tran</cp:lastModifiedBy>
  <cp:revision>2</cp:revision>
  <dcterms:created xsi:type="dcterms:W3CDTF">2026-05-06T22:41:37Z</dcterms:created>
  <dcterms:modified xsi:type="dcterms:W3CDTF">2026-05-11T01:22:37Z</dcterms:modified>
</cp:coreProperties>
</file>